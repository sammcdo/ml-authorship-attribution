
<file path=[Content_Types].xml><?xml version="1.0" encoding="utf-8"?>
<Types xmlns="http://schemas.openxmlformats.org/package/2006/content-types">
  <Default Extension="HUYR0w8qYjrj5KH0JYxMCepvKAH7B9tTdvhp6b6xXYk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86" r:id="rId7"/>
    <p:sldId id="260" r:id="rId8"/>
    <p:sldId id="287" r:id="rId9"/>
    <p:sldId id="262" r:id="rId10"/>
    <p:sldId id="288" r:id="rId11"/>
    <p:sldId id="289" r:id="rId12"/>
    <p:sldId id="290" r:id="rId13"/>
    <p:sldId id="291" r:id="rId14"/>
    <p:sldId id="258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261" r:id="rId25"/>
    <p:sldId id="26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12/5/2025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https://www.nature.com/articles/d41586-024-02371-z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546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deviantart.com/jack1set2/art/Bert-Let-s-Go-to-Preschool-Vector-1230878793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2.HUYR0w8qYjrj5KH0JYxMCepvKAH7B9tTdvhp6b6xXYk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jack1set2/art/Bert-Let-s-Go-to-Preschool-Vector-1230878793" TargetMode="External"/><Relationship Id="rId2" Type="http://schemas.openxmlformats.org/officeDocument/2006/relationships/image" Target="../media/image2.HUYR0w8qYjrj5KH0JYxMCepvKAH7B9tTdvhp6b6xXYk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jack1set2/art/Bert-Let-s-Go-to-Preschool-Vector-1230878793" TargetMode="External"/><Relationship Id="rId2" Type="http://schemas.openxmlformats.org/officeDocument/2006/relationships/image" Target="../media/image2.HUYR0w8qYjrj5KH0JYxMCepvKAH7B9tTdvhp6b6xXYk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Authorship Attribution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Sam McDowell</a:t>
            </a:r>
          </a:p>
          <a:p>
            <a:pPr marL="0" indent="0">
              <a:buNone/>
            </a:pPr>
            <a:r>
              <a:rPr lang="en-US" dirty="0"/>
              <a:t>LU Honors Petition </a:t>
            </a:r>
          </a:p>
          <a:p>
            <a:pPr marL="0" indent="0">
              <a:buNone/>
            </a:pPr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Authorship is no longer obvious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5937B9-870C-E56C-E5E8-99DF5E79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is being used a lot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BA19BA-1BD4-391E-4516-4FC719F1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1026" name="Picture 2" descr="AI in Academic papers. Bar chart showing how the use of stylistic words rose in 2024.">
            <a:extLst>
              <a:ext uri="{FF2B5EF4-FFF2-40B4-BE49-F238E27FC236}">
                <a16:creationId xmlns:a16="http://schemas.microsoft.com/office/drawing/2014/main" id="{1A09A14D-771C-F691-749C-1F415A08F3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412" y="1825625"/>
            <a:ext cx="46286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0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0052-B79F-F98D-EEAA-ECF7AB0FB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b="1" kern="1200" spc="-70" baseline="0" dirty="0">
                <a:latin typeface="+mj-lt"/>
                <a:ea typeface="+mj-ea"/>
                <a:cs typeface="+mj-cs"/>
              </a:rPr>
              <a:t>Authorship Attribution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8A7940-FCFA-DE03-F68C-4DF9B9AD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234D39-1260-4AA7-9182-B6C1B54E11A3}"/>
              </a:ext>
            </a:extLst>
          </p:cNvPr>
          <p:cNvSpPr txBox="1"/>
          <p:nvPr/>
        </p:nvSpPr>
        <p:spPr>
          <a:xfrm>
            <a:off x="1409700" y="1749570"/>
            <a:ext cx="9372600" cy="33588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r>
              <a:rPr lang="en-US" sz="6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Stylometry: the use of statistical methods to analyze linguistic style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endParaRPr lang="en-US" sz="6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509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Approaches</a:t>
            </a: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C03AAFA7-022A-47F8-9DA1-7DC3897D1E5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21" t="4330" r="-6821" b="59720"/>
          <a:stretch>
            <a:fillRect/>
          </a:stretch>
        </p:blipFill>
        <p:spPr>
          <a:xfrm>
            <a:off x="978212" y="2096716"/>
            <a:ext cx="1259505" cy="1259505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82206B1-586F-4254-9B36-D06C4E294A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BERT Model</a:t>
            </a:r>
          </a:p>
        </p:txBody>
      </p:sp>
      <p:pic>
        <p:nvPicPr>
          <p:cNvPr id="27" name="Picture Placeholder 26" descr="Branching diagram with solid fill">
            <a:extLst>
              <a:ext uri="{FF2B5EF4-FFF2-40B4-BE49-F238E27FC236}">
                <a16:creationId xmlns:a16="http://schemas.microsoft.com/office/drawing/2014/main" id="{6F737161-FE67-434D-A781-59EDB9EDCB2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/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924A29-3538-4A3F-82A6-D2A7538C21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Embedding Centroid Attribution</a:t>
            </a:r>
          </a:p>
        </p:txBody>
      </p:sp>
      <p:pic>
        <p:nvPicPr>
          <p:cNvPr id="29" name="Picture Placeholder 28" descr="Illustrator with solid fill">
            <a:extLst>
              <a:ext uri="{FF2B5EF4-FFF2-40B4-BE49-F238E27FC236}">
                <a16:creationId xmlns:a16="http://schemas.microsoft.com/office/drawing/2014/main" id="{9E5BF01B-21D6-4D43-9CAE-0298685C1A7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/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B8F0371-4F69-4131-91BF-9AB99E6EE8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KNN Clustering</a:t>
            </a:r>
          </a:p>
        </p:txBody>
      </p:sp>
      <p:pic>
        <p:nvPicPr>
          <p:cNvPr id="31" name="Picture Placeholder 30" descr="Holiday tree outline">
            <a:extLst>
              <a:ext uri="{FF2B5EF4-FFF2-40B4-BE49-F238E27FC236}">
                <a16:creationId xmlns:a16="http://schemas.microsoft.com/office/drawing/2014/main" id="{089E8AB6-C16E-4752-810F-8F98DB929DB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/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8CACAF1-61EA-4605-A8FE-2EEE752B49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Random Forest Classification</a:t>
            </a:r>
          </a:p>
        </p:txBody>
      </p:sp>
      <p:pic>
        <p:nvPicPr>
          <p:cNvPr id="33" name="Picture Placeholder 32" descr="Head with Gears">
            <a:extLst>
              <a:ext uri="{FF2B5EF4-FFF2-40B4-BE49-F238E27FC236}">
                <a16:creationId xmlns:a16="http://schemas.microsoft.com/office/drawing/2014/main" id="{CC9DBBE5-5AD0-41E8-A719-84509E5D9F9E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63" b="63"/>
          <a:stretch>
            <a:fillRect/>
          </a:stretch>
        </p:blipFill>
        <p:spPr/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D05A34F-7712-46DB-AB5B-272E294B62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73AA960-2E4A-F77B-8E4E-0B805D91A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Features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C80E0F3-C745-2369-FEF5-C68227F2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D828C7-E4EF-5C09-9F7C-2DD7CAA2B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  <a:p>
            <a:pPr lvl="1"/>
            <a:r>
              <a:rPr lang="en-US" dirty="0"/>
              <a:t>Type Token Ratio (unique/total words)</a:t>
            </a:r>
          </a:p>
          <a:p>
            <a:pPr lvl="1"/>
            <a:r>
              <a:rPr lang="en-US" dirty="0"/>
              <a:t>Stop Word Ratio (stop/total words)</a:t>
            </a:r>
          </a:p>
          <a:p>
            <a:pPr lvl="1"/>
            <a:r>
              <a:rPr lang="en-US" dirty="0"/>
              <a:t>Hapax Legomena (count words used only once)</a:t>
            </a:r>
          </a:p>
        </p:txBody>
      </p:sp>
    </p:spTree>
    <p:extLst>
      <p:ext uri="{BB962C8B-B14F-4D97-AF65-F5344CB8AC3E}">
        <p14:creationId xmlns:p14="http://schemas.microsoft.com/office/powerpoint/2010/main" val="269755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B48A-699E-9287-3A59-0576F82CC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14144A5-A4A9-6520-B956-21178257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Features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65D57A3-8798-4FE1-03B3-3F2AC1D7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879FC02-40FC-9A9A-2248-0F24FA0FF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Readability</a:t>
            </a:r>
          </a:p>
          <a:p>
            <a:pPr lvl="1"/>
            <a:r>
              <a:rPr lang="en-US" dirty="0"/>
              <a:t>Avg Syllable Count</a:t>
            </a:r>
          </a:p>
          <a:p>
            <a:pPr lvl="1"/>
            <a:r>
              <a:rPr lang="en-US" dirty="0"/>
              <a:t>Avg Word/Sentence Length</a:t>
            </a:r>
          </a:p>
          <a:p>
            <a:pPr lvl="1"/>
            <a:r>
              <a:rPr lang="en-US" dirty="0"/>
              <a:t>Flesch Readability Score</a:t>
            </a:r>
          </a:p>
          <a:p>
            <a:pPr lvl="1"/>
            <a:r>
              <a:rPr lang="en-US" dirty="0"/>
              <a:t>Dale-Chall Grade Level</a:t>
            </a:r>
          </a:p>
          <a:p>
            <a:pPr lvl="1"/>
            <a:r>
              <a:rPr lang="en-US" dirty="0"/>
              <a:t>Gunning Fog Index</a:t>
            </a:r>
          </a:p>
        </p:txBody>
      </p:sp>
    </p:spTree>
    <p:extLst>
      <p:ext uri="{BB962C8B-B14F-4D97-AF65-F5344CB8AC3E}">
        <p14:creationId xmlns:p14="http://schemas.microsoft.com/office/powerpoint/2010/main" val="347819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A6F7-76BC-5C48-DF03-5768D91A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37FF974-E7F0-38DA-C004-2810E3FA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Features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245D3BB-0D7E-6E74-04EF-A61829C0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3E85453-255C-15FA-CEB6-C082E2275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Tagging</a:t>
            </a:r>
          </a:p>
          <a:p>
            <a:pPr lvl="1"/>
            <a:r>
              <a:rPr lang="en-US" dirty="0"/>
              <a:t>POS Counts</a:t>
            </a:r>
          </a:p>
          <a:p>
            <a:pPr lvl="1"/>
            <a:r>
              <a:rPr lang="en-US" dirty="0"/>
              <a:t>Punctuation Counts</a:t>
            </a:r>
          </a:p>
          <a:p>
            <a:pPr lvl="1"/>
            <a:r>
              <a:rPr lang="en-US" dirty="0"/>
              <a:t>Sentence Structure Counts</a:t>
            </a:r>
          </a:p>
        </p:txBody>
      </p:sp>
    </p:spTree>
    <p:extLst>
      <p:ext uri="{BB962C8B-B14F-4D97-AF65-F5344CB8AC3E}">
        <p14:creationId xmlns:p14="http://schemas.microsoft.com/office/powerpoint/2010/main" val="3199861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BDC7A1-A5A6-67E9-381C-6DD1B551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6" name="Content Placeholder 5" descr="A grid of red and blue squares&#10;&#10;AI-generated content may be incorrect.">
            <a:extLst>
              <a:ext uri="{FF2B5EF4-FFF2-40B4-BE49-F238E27FC236}">
                <a16:creationId xmlns:a16="http://schemas.microsoft.com/office/drawing/2014/main" id="{1B863D5C-EB0F-1443-13C5-93E5AAC705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" t="4752" r="16327" b="2170"/>
          <a:stretch>
            <a:fillRect/>
          </a:stretch>
        </p:blipFill>
        <p:spPr>
          <a:xfrm>
            <a:off x="2640768" y="0"/>
            <a:ext cx="6910464" cy="6918491"/>
          </a:xfrm>
        </p:spPr>
      </p:pic>
    </p:spTree>
    <p:extLst>
      <p:ext uri="{BB962C8B-B14F-4D97-AF65-F5344CB8AC3E}">
        <p14:creationId xmlns:p14="http://schemas.microsoft.com/office/powerpoint/2010/main" val="92297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Picture Placeholder 24">
            <a:extLst>
              <a:ext uri="{FF2B5EF4-FFF2-40B4-BE49-F238E27FC236}">
                <a16:creationId xmlns:a16="http://schemas.microsoft.com/office/drawing/2014/main" id="{EDBA6292-BEFD-A49C-B702-E3424DA0E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21" t="4330" r="-6821" b="59720"/>
          <a:stretch>
            <a:fillRect/>
          </a:stretch>
        </p:blipFill>
        <p:spPr>
          <a:xfrm>
            <a:off x="10932495" y="0"/>
            <a:ext cx="1259505" cy="1259505"/>
          </a:xfrm>
          <a:prstGeom prst="rect">
            <a:avLst/>
          </a:prstGeom>
        </p:spPr>
      </p:pic>
      <p:pic>
        <p:nvPicPr>
          <p:cNvPr id="2050" name="Picture 2" descr="BERT word embedding model architecture | Download Scientific Diagram">
            <a:extLst>
              <a:ext uri="{FF2B5EF4-FFF2-40B4-BE49-F238E27FC236}">
                <a16:creationId xmlns:a16="http://schemas.microsoft.com/office/drawing/2014/main" id="{49EA2B4F-6C3E-60E2-2928-7D4A566D2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557" y="1078456"/>
            <a:ext cx="7460886" cy="522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39BEE-9700-7199-5101-61DBB9D7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469E7F-2469-FF38-21F4-363533E4E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D9693-532F-C5EC-C953-2BDFC6A2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" name="Picture Placeholder 24">
            <a:extLst>
              <a:ext uri="{FF2B5EF4-FFF2-40B4-BE49-F238E27FC236}">
                <a16:creationId xmlns:a16="http://schemas.microsoft.com/office/drawing/2014/main" id="{204B0C12-9304-D528-73B8-784C87AEF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6821" t="4330" r="-6821" b="59720"/>
          <a:stretch>
            <a:fillRect/>
          </a:stretch>
        </p:blipFill>
        <p:spPr>
          <a:xfrm>
            <a:off x="10932495" y="0"/>
            <a:ext cx="1259505" cy="12595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9012D5-5634-907B-D941-27A1396AE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195" y="914400"/>
            <a:ext cx="5829300" cy="502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7B46E8-3F25-0B2E-6FBC-55F94205B9B8}"/>
              </a:ext>
            </a:extLst>
          </p:cNvPr>
          <p:cNvSpPr txBox="1"/>
          <p:nvPr/>
        </p:nvSpPr>
        <p:spPr>
          <a:xfrm>
            <a:off x="667062" y="1259505"/>
            <a:ext cx="4287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Accuracy: 87%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F1: 87%</a:t>
            </a:r>
          </a:p>
        </p:txBody>
      </p:sp>
    </p:spTree>
    <p:extLst>
      <p:ext uri="{BB962C8B-B14F-4D97-AF65-F5344CB8AC3E}">
        <p14:creationId xmlns:p14="http://schemas.microsoft.com/office/powerpoint/2010/main" val="1327097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894A-73DA-DAFB-F783-CBF2CECA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Centroid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876C9-97CF-8C7A-BA17-996F245F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9EDD3-D5CC-BC3F-FEC1-1E802589D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175" y="1369173"/>
            <a:ext cx="5133649" cy="5128464"/>
          </a:xfrm>
          <a:prstGeom prst="rect">
            <a:avLst/>
          </a:prstGeom>
        </p:spPr>
      </p:pic>
      <p:pic>
        <p:nvPicPr>
          <p:cNvPr id="8" name="Picture Placeholder 26" descr="Branching diagram with solid fill">
            <a:extLst>
              <a:ext uri="{FF2B5EF4-FFF2-40B4-BE49-F238E27FC236}">
                <a16:creationId xmlns:a16="http://schemas.microsoft.com/office/drawing/2014/main" id="{0A3104F7-EF3E-4E17-B1FB-FAC4892C9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32495" y="0"/>
            <a:ext cx="1259505" cy="12595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81162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CFA1-6314-329E-EF31-0EECD41BC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81D158-F8E8-00B6-8900-A945A3DBB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Centroid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B70818-D81F-0FFF-4C0A-E6524F57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184A5-4166-1A43-7F20-DC9EA70A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01" t="5398" r="14679" b="3924"/>
          <a:stretch>
            <a:fillRect/>
          </a:stretch>
        </p:blipFill>
        <p:spPr>
          <a:xfrm>
            <a:off x="5580211" y="1118452"/>
            <a:ext cx="5314974" cy="4621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5ADEA-82F3-9B64-2B9D-BBCD3E4A9B29}"/>
              </a:ext>
            </a:extLst>
          </p:cNvPr>
          <p:cNvSpPr txBox="1"/>
          <p:nvPr/>
        </p:nvSpPr>
        <p:spPr>
          <a:xfrm>
            <a:off x="667062" y="1259505"/>
            <a:ext cx="4287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Accuracy: 76%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F1: 71%</a:t>
            </a:r>
          </a:p>
        </p:txBody>
      </p:sp>
      <p:pic>
        <p:nvPicPr>
          <p:cNvPr id="4" name="Picture Placeholder 26" descr="Branching diagram with solid fill">
            <a:extLst>
              <a:ext uri="{FF2B5EF4-FFF2-40B4-BE49-F238E27FC236}">
                <a16:creationId xmlns:a16="http://schemas.microsoft.com/office/drawing/2014/main" id="{0119BE72-F15B-00BA-41E0-EBD24B883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895185" y="0"/>
            <a:ext cx="1259505" cy="12595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43580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1760-4086-820C-9F99-A5936516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A26E16-D2CB-11E4-23C6-EF98B0B21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21FC9-5476-C3EF-1611-968BD0C70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489" y="1078456"/>
            <a:ext cx="7165022" cy="5601744"/>
          </a:xfrm>
          <a:prstGeom prst="rect">
            <a:avLst/>
          </a:prstGeom>
        </p:spPr>
      </p:pic>
      <p:pic>
        <p:nvPicPr>
          <p:cNvPr id="7" name="Picture Placeholder 28" descr="Illustrator with solid fill">
            <a:extLst>
              <a:ext uri="{FF2B5EF4-FFF2-40B4-BE49-F238E27FC236}">
                <a16:creationId xmlns:a16="http://schemas.microsoft.com/office/drawing/2014/main" id="{98858F52-F303-8339-9C2D-9C0CFDC85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32495" y="0"/>
            <a:ext cx="1259505" cy="12595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39632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766A1-AEB5-2943-08D1-8BD027517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5486-53DC-8465-6801-F93C324B1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D4078-1D26-BD36-3F42-6DA33872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7" name="Picture Placeholder 28" descr="Illustrator with solid fill">
            <a:extLst>
              <a:ext uri="{FF2B5EF4-FFF2-40B4-BE49-F238E27FC236}">
                <a16:creationId xmlns:a16="http://schemas.microsoft.com/office/drawing/2014/main" id="{1690F575-C8D4-B9BE-42DC-C53B7ACEF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32495" y="0"/>
            <a:ext cx="1259505" cy="1259505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B4050-5BF1-256A-B461-364668F7A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195" y="1031001"/>
            <a:ext cx="5829300" cy="5029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E5A6ED-75FD-16F7-2541-D1D3A916ECD0}"/>
              </a:ext>
            </a:extLst>
          </p:cNvPr>
          <p:cNvSpPr txBox="1"/>
          <p:nvPr/>
        </p:nvSpPr>
        <p:spPr>
          <a:xfrm>
            <a:off x="444500" y="1291627"/>
            <a:ext cx="4252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Accuracy: 75%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F1: 73%</a:t>
            </a:r>
          </a:p>
        </p:txBody>
      </p:sp>
    </p:spTree>
    <p:extLst>
      <p:ext uri="{BB962C8B-B14F-4D97-AF65-F5344CB8AC3E}">
        <p14:creationId xmlns:p14="http://schemas.microsoft.com/office/powerpoint/2010/main" val="2571791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4E7BB-737D-E06B-A652-BC890548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7AEC-768E-543C-E217-8943560B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A91D39-0E97-F111-7491-DB917E79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4100" name="Picture 4" descr="Random Forest Simple Explanation. Understanding the Random Forest with an…  | by Will Koehrsen | Medium">
            <a:extLst>
              <a:ext uri="{FF2B5EF4-FFF2-40B4-BE49-F238E27FC236}">
                <a16:creationId xmlns:a16="http://schemas.microsoft.com/office/drawing/2014/main" id="{521E5B75-6186-E5E8-3B48-EB8BC0154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694940"/>
            <a:ext cx="56388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Placeholder 30" descr="Holiday tree outline">
            <a:extLst>
              <a:ext uri="{FF2B5EF4-FFF2-40B4-BE49-F238E27FC236}">
                <a16:creationId xmlns:a16="http://schemas.microsoft.com/office/drawing/2014/main" id="{E4FDFA58-1F0F-A6A4-182E-C9F3E0E55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32495" y="0"/>
            <a:ext cx="1259505" cy="12595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491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A3CE-94CD-CDE1-C901-81538389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F7C5-E93C-BACD-FA7F-1235D5BB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32892F-4D10-69B4-BD99-DAE16516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1388A7-43CF-4E84-BA37-F54C1C65F40A}"/>
              </a:ext>
            </a:extLst>
          </p:cNvPr>
          <p:cNvSpPr txBox="1"/>
          <p:nvPr/>
        </p:nvSpPr>
        <p:spPr>
          <a:xfrm>
            <a:off x="444500" y="1291627"/>
            <a:ext cx="4252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Accuracy: 92%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F1: 91%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C823D-F457-D5A6-7E8C-108B2C3D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195" y="1078456"/>
            <a:ext cx="5829300" cy="5029200"/>
          </a:xfrm>
          <a:prstGeom prst="rect">
            <a:avLst/>
          </a:prstGeom>
        </p:spPr>
      </p:pic>
      <p:pic>
        <p:nvPicPr>
          <p:cNvPr id="9" name="Picture Placeholder 30" descr="Holiday tree outline">
            <a:extLst>
              <a:ext uri="{FF2B5EF4-FFF2-40B4-BE49-F238E27FC236}">
                <a16:creationId xmlns:a16="http://schemas.microsoft.com/office/drawing/2014/main" id="{47996B20-EAFA-C29B-4F02-C98BBFE6D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32495" y="0"/>
            <a:ext cx="1259505" cy="12595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5106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FD7C-12C7-A65B-F5AE-90A51EB95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A5CBC2-5798-7D0F-A34A-C6A1438C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6DE22-5BCB-2A5E-91DE-F27CEE759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774" y="1402706"/>
            <a:ext cx="6805536" cy="4333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D919B8-8B7E-1DFD-FF8C-BC233AF980D6}"/>
              </a:ext>
            </a:extLst>
          </p:cNvPr>
          <p:cNvSpPr txBox="1"/>
          <p:nvPr/>
        </p:nvSpPr>
        <p:spPr>
          <a:xfrm>
            <a:off x="871442" y="2246110"/>
            <a:ext cx="29457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37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256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128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64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15 classes</a:t>
            </a:r>
          </a:p>
        </p:txBody>
      </p:sp>
      <p:pic>
        <p:nvPicPr>
          <p:cNvPr id="8" name="Picture Placeholder 32" descr="Head with Gears">
            <a:extLst>
              <a:ext uri="{FF2B5EF4-FFF2-40B4-BE49-F238E27FC236}">
                <a16:creationId xmlns:a16="http://schemas.microsoft.com/office/drawing/2014/main" id="{135C6142-CC0E-0FD8-A00A-226F2A0DB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3" b="63"/>
          <a:stretch>
            <a:fillRect/>
          </a:stretch>
        </p:blipFill>
        <p:spPr>
          <a:xfrm>
            <a:off x="10932495" y="0"/>
            <a:ext cx="1259505" cy="125950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09836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91E8-C15A-BA7D-2534-5BA7B755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E940-B4AD-784F-98C5-7890DCAB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F920CD-1013-D1CF-5557-749994D2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EBB4DC-206E-E548-76D0-302EE9929007}"/>
              </a:ext>
            </a:extLst>
          </p:cNvPr>
          <p:cNvSpPr txBox="1"/>
          <p:nvPr/>
        </p:nvSpPr>
        <p:spPr>
          <a:xfrm>
            <a:off x="444500" y="1491270"/>
            <a:ext cx="2945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Accuracy: 92%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F1: 91%</a:t>
            </a:r>
          </a:p>
        </p:txBody>
      </p:sp>
      <p:pic>
        <p:nvPicPr>
          <p:cNvPr id="8" name="Picture Placeholder 32" descr="Head with Gears">
            <a:extLst>
              <a:ext uri="{FF2B5EF4-FFF2-40B4-BE49-F238E27FC236}">
                <a16:creationId xmlns:a16="http://schemas.microsoft.com/office/drawing/2014/main" id="{C5C790EC-650E-6D9B-594C-01816CB05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3" b="63"/>
          <a:stretch>
            <a:fillRect/>
          </a:stretch>
        </p:blipFill>
        <p:spPr>
          <a:xfrm>
            <a:off x="10932495" y="0"/>
            <a:ext cx="1259505" cy="1259505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1D4DB9-34D1-D834-552F-F40A37E8F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195" y="1078456"/>
            <a:ext cx="58293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85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go from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Thesis Topic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Industry Opportunities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r>
              <a:rPr lang="en-US" dirty="0"/>
              <a:t>Explore the extent of LLMs ability to mimic writing style through stylometry and authorship attribution.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r>
              <a:rPr lang="en-US" dirty="0"/>
              <a:t>Improve AI detection systems</a:t>
            </a:r>
          </a:p>
          <a:p>
            <a:r>
              <a:rPr lang="en-US" dirty="0"/>
              <a:t>Security (misinformation, impersonation)</a:t>
            </a:r>
          </a:p>
          <a:p>
            <a:r>
              <a:rPr lang="en-US" dirty="0"/>
              <a:t>Forensics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68</TotalTime>
  <Words>247</Words>
  <Application>Microsoft Office PowerPoint</Application>
  <PresentationFormat>Widescreen</PresentationFormat>
  <Paragraphs>90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Trade Gothic LT Pro</vt:lpstr>
      <vt:lpstr>Trebuchet MS</vt:lpstr>
      <vt:lpstr>Office Theme</vt:lpstr>
      <vt:lpstr>AI Authorship Attribution</vt:lpstr>
      <vt:lpstr>The Problem</vt:lpstr>
      <vt:lpstr>AI is being used a lot</vt:lpstr>
      <vt:lpstr>The Solution</vt:lpstr>
      <vt:lpstr>Authorship Attribution</vt:lpstr>
      <vt:lpstr>5 Approaches</vt:lpstr>
      <vt:lpstr>Dataset Features</vt:lpstr>
      <vt:lpstr>Dataset Features</vt:lpstr>
      <vt:lpstr>Dataset Features</vt:lpstr>
      <vt:lpstr>PowerPoint Presentation</vt:lpstr>
      <vt:lpstr>BERT</vt:lpstr>
      <vt:lpstr>BERT</vt:lpstr>
      <vt:lpstr>Embedding Centroid</vt:lpstr>
      <vt:lpstr>Embedding Centroid</vt:lpstr>
      <vt:lpstr>KNN</vt:lpstr>
      <vt:lpstr>KNN</vt:lpstr>
      <vt:lpstr>Random Forest</vt:lpstr>
      <vt:lpstr>Random Forest</vt:lpstr>
      <vt:lpstr>Neural Network</vt:lpstr>
      <vt:lpstr>Neural Network</vt:lpstr>
      <vt:lpstr>Where to go from here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McDowell, Sam</dc:creator>
  <cp:lastModifiedBy>McDowell, Sam</cp:lastModifiedBy>
  <cp:revision>1</cp:revision>
  <dcterms:created xsi:type="dcterms:W3CDTF">2025-12-05T13:03:09Z</dcterms:created>
  <dcterms:modified xsi:type="dcterms:W3CDTF">2025-12-05T14:11:14Z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